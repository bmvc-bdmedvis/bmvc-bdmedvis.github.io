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ba34486a1942ad" /><Relationship Type="http://schemas.openxmlformats.org/officeDocument/2006/relationships/extended-properties" Target="/docProps/app.xml" Id="Re515ee56027b40b7" /><Relationship Type="http://schemas.openxmlformats.org/officeDocument/2006/relationships/officeDocument" Target="/ppt/presentation.xml" Id="R42f1e0c7cbbf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35aa9158ab4fca"/>
  </p:sldMasterIdLst>
  <p:notesMasterIdLst>
    <p:notesMasterId xmlns:r="http://schemas.openxmlformats.org/officeDocument/2006/relationships" r:id="R5eecc9a4d40648cb"/>
  </p:notesMasterIdLst>
  <p:sldIdLst>
    <p:sldId xmlns:r="http://schemas.openxmlformats.org/officeDocument/2006/relationships" id="256" r:id="R7562c5ac070c48a1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f91ccb77e4828" /><Relationship Type="http://schemas.openxmlformats.org/officeDocument/2006/relationships/slideMaster" Target="/ppt/slideMasters/slideMaster1.xml" Id="R4e35aa9158ab4fca" /><Relationship Type="http://schemas.openxmlformats.org/officeDocument/2006/relationships/notesMaster" Target="/ppt/notesMasters/notesMaster1.xml" Id="R5eecc9a4d40648cb" /><Relationship Type="http://schemas.openxmlformats.org/officeDocument/2006/relationships/presProps" Target="/ppt/presProps.xml" Id="R53a862a00c104300" /><Relationship Type="http://schemas.openxmlformats.org/officeDocument/2006/relationships/tableStyles" Target="/ppt/tableStyles.xml" Id="Rf9b0eb7ff3304d41" /><Relationship Type="http://schemas.openxmlformats.org/officeDocument/2006/relationships/slide" Target="/ppt/slides/slide1.xml" Id="R7562c5ac070c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e7315b27e9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ffd82bd15f4e64" /><Relationship Type="http://schemas.openxmlformats.org/officeDocument/2006/relationships/notesMaster" Target="/ppt/notesMasters/notesMaster1.xml" Id="Re485327f41e543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/Users/huyang/Workspace/bmvc-bdmedvis.github.io/index.html (workshop title, speakers, organizers, venue, public copy; accessed 2026-08-01)</a:t>
            </a:r>
          </a:p>
          <a:p xmlns:a="http://schemas.openxmlformats.org/drawingml/2006/main">
            <a:r>
              <a:t>- /Users/huyang/Workspace/bmvc-bdmedvis.github.io/WORKSHOP_SCHEDULE.md (confirmed public dates; accessed 2026-08-01)</a:t>
            </a:r>
          </a:p>
          <a:p xmlns:a="http://schemas.openxmlformats.org/drawingml/2006/main">
            <a:r>
              <a:t>- /Users/huyang/Workspace/bmvc-bdmedvis.github.io/assets/hero-front-page.jpg (workshop illustration)</a:t>
            </a:r>
          </a:p>
          <a:p xmlns:a="http://schemas.openxmlformats.org/drawingml/2006/main">
            <a:r>
              <a:t>- /Users/huyang/Workspace/bmvc-bdmedvis.github.io/assets/bmvc-2026-logo.png (BMVC 2026 logo)</a:t>
            </a:r>
          </a:p>
          <a:p xmlns:a="http://schemas.openxmlformats.org/drawingml/2006/main">
            <a:r>
              <a:t>- /Users/huyang/Workspace/bmvc-bdmedvis.github.io/assets/speakers/yalin-zheng.jpg and sharib-ali.jpg (speaker photos)</a:t>
            </a:r>
          </a:p>
          <a:p xmlns:a="http://schemas.openxmlformats.org/drawingml/2006/main">
            <a:r>
              <a:t>- /Users/huyang/Workspace/bmvc-bdmedvis.github.io/assets/universities (organising institution marks)</a:t>
            </a:r>
          </a:p>
          <a:p xmlns:a="http://schemas.openxmlformats.org/drawingml/2006/main">
            <a:r>
              <a:t>- /Users/huyang/Library/CloudStorage/OneDrive-UniversityofLeicester/2025-2026 Leicester-connecting/2026.5 BMVC workshop/BMVC-BDMVI 2026 2.pdf (visual reference and Lancaster/ICVL marks)</a:t>
            </a:r>
          </a:p>
          <a:p xmlns:a="http://schemas.openxmlformats.org/drawingml/2006/main">
            <a:r>
              <a:t>- /Users/huyang/Workspace/bmvc-bdmedvis.github.io/assets/organizers (nine organizer portraits; accessed 2026-08-01)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db2855be040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8588c0ee154a9b" /><Relationship Type="http://schemas.openxmlformats.org/officeDocument/2006/relationships/slideLayout" Target="/ppt/slideLayouts/slideLayout1.xml" Id="R6945e9db134149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5e9db134149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a3f610c924086" /><Relationship Type="http://schemas.openxmlformats.org/officeDocument/2006/relationships/image" Target="/ppt/media/image.png" Id="R0283d8bf468341df" /><Relationship Type="http://schemas.openxmlformats.org/officeDocument/2006/relationships/image" Target="/ppt/media/image.jpeg" Id="R2c7c4a02b2b14fd3" /><Relationship Type="http://schemas.openxmlformats.org/officeDocument/2006/relationships/image" Target="/ppt/media/image2.jpeg" Id="R3ac42cd552344370" /><Relationship Type="http://schemas.openxmlformats.org/officeDocument/2006/relationships/image" Target="/ppt/media/image3.jpeg" Id="R01dc8dd7d3274f85" /><Relationship Type="http://schemas.openxmlformats.org/officeDocument/2006/relationships/image" Target="/ppt/media/image4.jpeg" Id="R625da51aacb3440a" /><Relationship Type="http://schemas.openxmlformats.org/officeDocument/2006/relationships/image" Target="/ppt/media/image5.jpeg" Id="R3fc873440ffd4adf" /><Relationship Type="http://schemas.openxmlformats.org/officeDocument/2006/relationships/image" Target="/ppt/media/image6.jpeg" Id="Raaf8b2ad9f1242ec" /><Relationship Type="http://schemas.openxmlformats.org/officeDocument/2006/relationships/image" Target="/ppt/media/image7.jpeg" Id="Rcecb24aff98f458b" /><Relationship Type="http://schemas.openxmlformats.org/officeDocument/2006/relationships/image" Target="/ppt/media/image8.jpeg" Id="R4eaac8d60c7f423b" /><Relationship Type="http://schemas.openxmlformats.org/officeDocument/2006/relationships/image" Target="/ppt/media/image9.jpeg" Id="R049cec7407f4452c" /><Relationship Type="http://schemas.openxmlformats.org/officeDocument/2006/relationships/image" Target="/ppt/media/image2.png" Id="Rab9e853ccc6a40a9" /><Relationship Type="http://schemas.openxmlformats.org/officeDocument/2006/relationships/image" Target="/ppt/media/image3.png" Id="R7779c6f1abaf4aeb" /><Relationship Type="http://schemas.openxmlformats.org/officeDocument/2006/relationships/image" Target="/ppt/media/image4.png" Id="R65468dc6d571413a" /><Relationship Type="http://schemas.openxmlformats.org/officeDocument/2006/relationships/image" Target="/ppt/media/image5.png" Id="Red1d394e52784472" /><Relationship Type="http://schemas.openxmlformats.org/officeDocument/2006/relationships/image" Target="/ppt/media/image10.jpeg" Id="R073d04dfa2674d0f" /><Relationship Type="http://schemas.openxmlformats.org/officeDocument/2006/relationships/image" Target="/ppt/media/image11.jpeg" Id="Re08588ffa8af4c02" /><Relationship Type="http://schemas.openxmlformats.org/officeDocument/2006/relationships/image" Target="/ppt/media/image12.jpeg" Id="Rec2d94c03d064278" /><Relationship Type="http://schemas.openxmlformats.org/officeDocument/2006/relationships/image" Target="/ppt/media/image13.jpeg" Id="Rc7067603d9134928" /><Relationship Type="http://schemas.openxmlformats.org/officeDocument/2006/relationships/image" Target="/ppt/media/image14.jpeg" Id="R3dafa6e455474707" /><Relationship Type="http://schemas.openxmlformats.org/officeDocument/2006/relationships/image" Target="/ppt/media/image15.jpeg" Id="Rbb62e352c5634fa0" /><Relationship Type="http://schemas.openxmlformats.org/officeDocument/2006/relationships/image" Target="/ppt/media/image16.jpeg" Id="R5b7224e2a6ff4fdd" /><Relationship Type="http://schemas.openxmlformats.org/officeDocument/2006/relationships/image" Target="/ppt/media/image17.jpeg" Id="Rcdb6420d7b7940e8" /><Relationship Type="http://schemas.openxmlformats.org/officeDocument/2006/relationships/image" Target="/ppt/media/image18.jpeg" Id="R40828a8b61654a99" /><Relationship Type="http://schemas.openxmlformats.org/officeDocument/2006/relationships/notesSlide" Target="/ppt/notesSlides/notesSlide1.xml" Id="Rb5c30d32a9fa4f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rid-v-18">
            <a:extLst xmlns:a="http://schemas.openxmlformats.org/drawingml/2006/main">
              <a:ext uri="{FF2B5EF4-FFF2-40B4-BE49-F238E27FC236}">
                <a16:creationId xmlns:a16="http://schemas.microsoft.com/office/drawing/2014/main" id="{29C3C70D-E2B7-457C-8DB6-FDD3C02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" name="grid-v-54">
            <a:extLst xmlns:a="http://schemas.openxmlformats.org/drawingml/2006/main">
              <a:ext uri="{FF2B5EF4-FFF2-40B4-BE49-F238E27FC236}">
                <a16:creationId xmlns:a16="http://schemas.microsoft.com/office/drawing/2014/main" id="{E3F15350-659F-4C7A-A156-5C7FA3F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" name="grid-v-90">
            <a:extLst xmlns:a="http://schemas.openxmlformats.org/drawingml/2006/main">
              <a:ext uri="{FF2B5EF4-FFF2-40B4-BE49-F238E27FC236}">
                <a16:creationId xmlns:a16="http://schemas.microsoft.com/office/drawing/2014/main" id="{2868A67E-E833-462A-A6C8-68A67EB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" name="grid-v-126">
            <a:extLst xmlns:a="http://schemas.openxmlformats.org/drawingml/2006/main">
              <a:ext uri="{FF2B5EF4-FFF2-40B4-BE49-F238E27FC236}">
                <a16:creationId xmlns:a16="http://schemas.microsoft.com/office/drawing/2014/main" id="{FEFCFCFE-0F2F-48EF-A583-047B9B80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" name="grid-v-162">
            <a:extLst xmlns:a="http://schemas.openxmlformats.org/drawingml/2006/main">
              <a:ext uri="{FF2B5EF4-FFF2-40B4-BE49-F238E27FC236}">
                <a16:creationId xmlns:a16="http://schemas.microsoft.com/office/drawing/2014/main" id="{66035C8E-7373-4AE6-8FFB-A0FD7E8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6" name="grid-v-198">
            <a:extLst xmlns:a="http://schemas.openxmlformats.org/drawingml/2006/main">
              <a:ext uri="{FF2B5EF4-FFF2-40B4-BE49-F238E27FC236}">
                <a16:creationId xmlns:a16="http://schemas.microsoft.com/office/drawing/2014/main" id="{61685BD3-50A0-493B-8278-00E08C1A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7" name="grid-v-234">
            <a:extLst xmlns:a="http://schemas.openxmlformats.org/drawingml/2006/main">
              <a:ext uri="{FF2B5EF4-FFF2-40B4-BE49-F238E27FC236}">
                <a16:creationId xmlns:a16="http://schemas.microsoft.com/office/drawing/2014/main" id="{455FA01C-5229-4851-BDB6-094F8935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8" name="grid-v-270">
            <a:extLst xmlns:a="http://schemas.openxmlformats.org/drawingml/2006/main">
              <a:ext uri="{FF2B5EF4-FFF2-40B4-BE49-F238E27FC236}">
                <a16:creationId xmlns:a16="http://schemas.microsoft.com/office/drawing/2014/main" id="{06BB7DA8-A59D-483E-AB4E-7F7FFFC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9" name="grid-v-306">
            <a:extLst xmlns:a="http://schemas.openxmlformats.org/drawingml/2006/main">
              <a:ext uri="{FF2B5EF4-FFF2-40B4-BE49-F238E27FC236}">
                <a16:creationId xmlns:a16="http://schemas.microsoft.com/office/drawing/2014/main" id="{D4415885-AFA6-40B2-8B0C-F6FE593F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0" name="grid-v-342">
            <a:extLst xmlns:a="http://schemas.openxmlformats.org/drawingml/2006/main">
              <a:ext uri="{FF2B5EF4-FFF2-40B4-BE49-F238E27FC236}">
                <a16:creationId xmlns:a16="http://schemas.microsoft.com/office/drawing/2014/main" id="{34FDE947-C725-40EE-9749-1A59EBF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1" name="grid-v-378">
            <a:extLst xmlns:a="http://schemas.openxmlformats.org/drawingml/2006/main">
              <a:ext uri="{FF2B5EF4-FFF2-40B4-BE49-F238E27FC236}">
                <a16:creationId xmlns:a16="http://schemas.microsoft.com/office/drawing/2014/main" id="{14EA6620-95A1-4776-B8E3-7E71356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2" name="grid-v-414">
            <a:extLst xmlns:a="http://schemas.openxmlformats.org/drawingml/2006/main">
              <a:ext uri="{FF2B5EF4-FFF2-40B4-BE49-F238E27FC236}">
                <a16:creationId xmlns:a16="http://schemas.microsoft.com/office/drawing/2014/main" id="{F859B741-BFBA-43F9-B51C-603F75F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3" name="grid-v-450">
            <a:extLst xmlns:a="http://schemas.openxmlformats.org/drawingml/2006/main">
              <a:ext uri="{FF2B5EF4-FFF2-40B4-BE49-F238E27FC236}">
                <a16:creationId xmlns:a16="http://schemas.microsoft.com/office/drawing/2014/main" id="{49CC8CFF-D553-4BB9-8230-7BACB00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4" name="grid-v-486">
            <a:extLst xmlns:a="http://schemas.openxmlformats.org/drawingml/2006/main">
              <a:ext uri="{FF2B5EF4-FFF2-40B4-BE49-F238E27FC236}">
                <a16:creationId xmlns:a16="http://schemas.microsoft.com/office/drawing/2014/main" id="{80463D19-3222-42D6-9954-8D1ADDA3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5" name="grid-v-522">
            <a:extLst xmlns:a="http://schemas.openxmlformats.org/drawingml/2006/main">
              <a:ext uri="{FF2B5EF4-FFF2-40B4-BE49-F238E27FC236}">
                <a16:creationId xmlns:a16="http://schemas.microsoft.com/office/drawing/2014/main" id="{DEDCB2C2-FA1F-4932-BB14-C9B94CB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6" name="grid-v-558">
            <a:extLst xmlns:a="http://schemas.openxmlformats.org/drawingml/2006/main">
              <a:ext uri="{FF2B5EF4-FFF2-40B4-BE49-F238E27FC236}">
                <a16:creationId xmlns:a16="http://schemas.microsoft.com/office/drawing/2014/main" id="{3E3CCF67-04C3-40A8-AAE7-521C40ED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7" name="grid-v-594">
            <a:extLst xmlns:a="http://schemas.openxmlformats.org/drawingml/2006/main">
              <a:ext uri="{FF2B5EF4-FFF2-40B4-BE49-F238E27FC236}">
                <a16:creationId xmlns:a16="http://schemas.microsoft.com/office/drawing/2014/main" id="{C754D930-C556-483D-8A1B-60AA790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8" name="grid-v-630">
            <a:extLst xmlns:a="http://schemas.openxmlformats.org/drawingml/2006/main">
              <a:ext uri="{FF2B5EF4-FFF2-40B4-BE49-F238E27FC236}">
                <a16:creationId xmlns:a16="http://schemas.microsoft.com/office/drawing/2014/main" id="{04C1F33C-57FE-42D7-A289-FE12DBA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9" name="grid-v-666">
            <a:extLst xmlns:a="http://schemas.openxmlformats.org/drawingml/2006/main">
              <a:ext uri="{FF2B5EF4-FFF2-40B4-BE49-F238E27FC236}">
                <a16:creationId xmlns:a16="http://schemas.microsoft.com/office/drawing/2014/main" id="{4B55145D-F413-412B-8B37-503D981A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0" name="grid-v-702">
            <a:extLst xmlns:a="http://schemas.openxmlformats.org/drawingml/2006/main">
              <a:ext uri="{FF2B5EF4-FFF2-40B4-BE49-F238E27FC236}">
                <a16:creationId xmlns:a16="http://schemas.microsoft.com/office/drawing/2014/main" id="{5E81F8A0-B37F-46EE-844A-446BA3F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1" name="grid-v-738">
            <a:extLst xmlns:a="http://schemas.openxmlformats.org/drawingml/2006/main">
              <a:ext uri="{FF2B5EF4-FFF2-40B4-BE49-F238E27FC236}">
                <a16:creationId xmlns:a16="http://schemas.microsoft.com/office/drawing/2014/main" id="{D39BBEA7-611C-438D-B63A-2C90C3CE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2" name="grid-v-774">
            <a:extLst xmlns:a="http://schemas.openxmlformats.org/drawingml/2006/main">
              <a:ext uri="{FF2B5EF4-FFF2-40B4-BE49-F238E27FC236}">
                <a16:creationId xmlns:a16="http://schemas.microsoft.com/office/drawing/2014/main" id="{DF6A13CE-D2C5-41D8-8253-7303121E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3" name="grid-h-18">
            <a:extLst xmlns:a="http://schemas.openxmlformats.org/drawingml/2006/main">
              <a:ext uri="{FF2B5EF4-FFF2-40B4-BE49-F238E27FC236}">
                <a16:creationId xmlns:a16="http://schemas.microsoft.com/office/drawing/2014/main" id="{D5B74D23-3577-4543-A87C-FA497C3E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4" name="grid-h-54">
            <a:extLst xmlns:a="http://schemas.openxmlformats.org/drawingml/2006/main">
              <a:ext uri="{FF2B5EF4-FFF2-40B4-BE49-F238E27FC236}">
                <a16:creationId xmlns:a16="http://schemas.microsoft.com/office/drawing/2014/main" id="{B61198BF-85AF-4544-B2A9-42A82D2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5" name="grid-h-90">
            <a:extLst xmlns:a="http://schemas.openxmlformats.org/drawingml/2006/main">
              <a:ext uri="{FF2B5EF4-FFF2-40B4-BE49-F238E27FC236}">
                <a16:creationId xmlns:a16="http://schemas.microsoft.com/office/drawing/2014/main" id="{8AEA22D7-F833-47BD-A077-CB4AD4D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6" name="grid-h-126">
            <a:extLst xmlns:a="http://schemas.openxmlformats.org/drawingml/2006/main">
              <a:ext uri="{FF2B5EF4-FFF2-40B4-BE49-F238E27FC236}">
                <a16:creationId xmlns:a16="http://schemas.microsoft.com/office/drawing/2014/main" id="{9435E431-3EBA-4062-95EA-C338D67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7" name="grid-h-162">
            <a:extLst xmlns:a="http://schemas.openxmlformats.org/drawingml/2006/main">
              <a:ext uri="{FF2B5EF4-FFF2-40B4-BE49-F238E27FC236}">
                <a16:creationId xmlns:a16="http://schemas.microsoft.com/office/drawing/2014/main" id="{03AA4460-2430-4A62-8F9A-3958EF7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43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8" name="grid-h-198">
            <a:extLst xmlns:a="http://schemas.openxmlformats.org/drawingml/2006/main">
              <a:ext uri="{FF2B5EF4-FFF2-40B4-BE49-F238E27FC236}">
                <a16:creationId xmlns:a16="http://schemas.microsoft.com/office/drawing/2014/main" id="{D03CCF12-8A3D-4881-A833-2E3B190F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9" name="grid-h-234">
            <a:extLst xmlns:a="http://schemas.openxmlformats.org/drawingml/2006/main">
              <a:ext uri="{FF2B5EF4-FFF2-40B4-BE49-F238E27FC236}">
                <a16:creationId xmlns:a16="http://schemas.microsoft.com/office/drawing/2014/main" id="{AD4762DB-2EF4-42A2-8FB5-577137B0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28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0" name="grid-h-270">
            <a:extLst xmlns:a="http://schemas.openxmlformats.org/drawingml/2006/main">
              <a:ext uri="{FF2B5EF4-FFF2-40B4-BE49-F238E27FC236}">
                <a16:creationId xmlns:a16="http://schemas.microsoft.com/office/drawing/2014/main" id="{E91C0790-FA48-446C-A97E-4144AFE2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1" name="grid-h-306">
            <a:extLst xmlns:a="http://schemas.openxmlformats.org/drawingml/2006/main">
              <a:ext uri="{FF2B5EF4-FFF2-40B4-BE49-F238E27FC236}">
                <a16:creationId xmlns:a16="http://schemas.microsoft.com/office/drawing/2014/main" id="{352ACE12-5336-4948-9727-039D87FB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14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2" name="grid-h-342">
            <a:extLst xmlns:a="http://schemas.openxmlformats.org/drawingml/2006/main">
              <a:ext uri="{FF2B5EF4-FFF2-40B4-BE49-F238E27FC236}">
                <a16:creationId xmlns:a16="http://schemas.microsoft.com/office/drawing/2014/main" id="{AFA03CEF-1B53-4EBF-9240-F3BE0BB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3" name="grid-h-378">
            <a:extLst xmlns:a="http://schemas.openxmlformats.org/drawingml/2006/main">
              <a:ext uri="{FF2B5EF4-FFF2-40B4-BE49-F238E27FC236}">
                <a16:creationId xmlns:a16="http://schemas.microsoft.com/office/drawing/2014/main" id="{35B0678C-75EA-4A5D-B438-B36C182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4" name="grid-h-414">
            <a:extLst xmlns:a="http://schemas.openxmlformats.org/drawingml/2006/main">
              <a:ext uri="{FF2B5EF4-FFF2-40B4-BE49-F238E27FC236}">
                <a16:creationId xmlns:a16="http://schemas.microsoft.com/office/drawing/2014/main" id="{D3BBC245-90E2-46B3-BA96-E50F404C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5" name="grid-h-450">
            <a:extLst xmlns:a="http://schemas.openxmlformats.org/drawingml/2006/main">
              <a:ext uri="{FF2B5EF4-FFF2-40B4-BE49-F238E27FC236}">
                <a16:creationId xmlns:a16="http://schemas.microsoft.com/office/drawing/2014/main" id="{717883B9-E0E3-4E59-B14D-2DE4CBA0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6" name="grid-h-486">
            <a:extLst xmlns:a="http://schemas.openxmlformats.org/drawingml/2006/main">
              <a:ext uri="{FF2B5EF4-FFF2-40B4-BE49-F238E27FC236}">
                <a16:creationId xmlns:a16="http://schemas.microsoft.com/office/drawing/2014/main" id="{538FF436-970F-40AE-80EF-5A34703C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7" name="grid-h-522">
            <a:extLst xmlns:a="http://schemas.openxmlformats.org/drawingml/2006/main">
              <a:ext uri="{FF2B5EF4-FFF2-40B4-BE49-F238E27FC236}">
                <a16:creationId xmlns:a16="http://schemas.microsoft.com/office/drawing/2014/main" id="{E8E1C652-E6DB-4E95-A39C-0FA5797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8" name="grid-h-558">
            <a:extLst xmlns:a="http://schemas.openxmlformats.org/drawingml/2006/main">
              <a:ext uri="{FF2B5EF4-FFF2-40B4-BE49-F238E27FC236}">
                <a16:creationId xmlns:a16="http://schemas.microsoft.com/office/drawing/2014/main" id="{EA87BFBE-A69E-46DF-8D2B-C14C4866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4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9" name="grid-h-594">
            <a:extLst xmlns:a="http://schemas.openxmlformats.org/drawingml/2006/main">
              <a:ext uri="{FF2B5EF4-FFF2-40B4-BE49-F238E27FC236}">
                <a16:creationId xmlns:a16="http://schemas.microsoft.com/office/drawing/2014/main" id="{E12A2010-558E-40CE-836B-6EE0BF8A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0" name="grid-h-630">
            <a:extLst xmlns:a="http://schemas.openxmlformats.org/drawingml/2006/main">
              <a:ext uri="{FF2B5EF4-FFF2-40B4-BE49-F238E27FC236}">
                <a16:creationId xmlns:a16="http://schemas.microsoft.com/office/drawing/2014/main" id="{8C60DC0E-D369-4CB8-B757-BD9FA1FC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1" name="grid-h-666">
            <a:extLst xmlns:a="http://schemas.openxmlformats.org/drawingml/2006/main">
              <a:ext uri="{FF2B5EF4-FFF2-40B4-BE49-F238E27FC236}">
                <a16:creationId xmlns:a16="http://schemas.microsoft.com/office/drawing/2014/main" id="{AAD7B0FA-0B19-4C43-9263-CCE457F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2" name="grid-h-702">
            <a:extLst xmlns:a="http://schemas.openxmlformats.org/drawingml/2006/main">
              <a:ext uri="{FF2B5EF4-FFF2-40B4-BE49-F238E27FC236}">
                <a16:creationId xmlns:a16="http://schemas.microsoft.com/office/drawing/2014/main" id="{08342258-5F1E-40FE-8044-7447CF24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3" name="grid-h-738">
            <a:extLst xmlns:a="http://schemas.openxmlformats.org/drawingml/2006/main">
              <a:ext uri="{FF2B5EF4-FFF2-40B4-BE49-F238E27FC236}">
                <a16:creationId xmlns:a16="http://schemas.microsoft.com/office/drawing/2014/main" id="{27D381CA-304B-43C1-A174-0A6453E2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29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4" name="grid-h-774">
            <a:extLst xmlns:a="http://schemas.openxmlformats.org/drawingml/2006/main">
              <a:ext uri="{FF2B5EF4-FFF2-40B4-BE49-F238E27FC236}">
                <a16:creationId xmlns:a16="http://schemas.microsoft.com/office/drawing/2014/main" id="{DBFBFE7C-9CD6-4FB4-86DC-419177B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72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5" name="grid-h-810">
            <a:extLst xmlns:a="http://schemas.openxmlformats.org/drawingml/2006/main">
              <a:ext uri="{FF2B5EF4-FFF2-40B4-BE49-F238E27FC236}">
                <a16:creationId xmlns:a16="http://schemas.microsoft.com/office/drawing/2014/main" id="{00C0B6CD-45D8-4139-B1D7-029FEF1C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15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6" name="grid-h-846">
            <a:extLst xmlns:a="http://schemas.openxmlformats.org/drawingml/2006/main">
              <a:ext uri="{FF2B5EF4-FFF2-40B4-BE49-F238E27FC236}">
                <a16:creationId xmlns:a16="http://schemas.microsoft.com/office/drawing/2014/main" id="{2F86C2D7-A423-4D47-9F7F-6CA9873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7" name="grid-h-882">
            <a:extLst xmlns:a="http://schemas.openxmlformats.org/drawingml/2006/main">
              <a:ext uri="{FF2B5EF4-FFF2-40B4-BE49-F238E27FC236}">
                <a16:creationId xmlns:a16="http://schemas.microsoft.com/office/drawing/2014/main" id="{EFECE4E4-916F-410B-9DD7-2E3C947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01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8" name="grid-h-918">
            <a:extLst xmlns:a="http://schemas.openxmlformats.org/drawingml/2006/main">
              <a:ext uri="{FF2B5EF4-FFF2-40B4-BE49-F238E27FC236}">
                <a16:creationId xmlns:a16="http://schemas.microsoft.com/office/drawing/2014/main" id="{18F0C626-28E8-4112-A6BE-646E74A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43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9" name="grid-h-954">
            <a:extLst xmlns:a="http://schemas.openxmlformats.org/drawingml/2006/main">
              <a:ext uri="{FF2B5EF4-FFF2-40B4-BE49-F238E27FC236}">
                <a16:creationId xmlns:a16="http://schemas.microsoft.com/office/drawing/2014/main" id="{C4D7133C-2283-4B74-AC68-521360A2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86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0" name="grid-h-990">
            <a:extLst xmlns:a="http://schemas.openxmlformats.org/drawingml/2006/main">
              <a:ext uri="{FF2B5EF4-FFF2-40B4-BE49-F238E27FC236}">
                <a16:creationId xmlns:a16="http://schemas.microsoft.com/office/drawing/2014/main" id="{AC67ECC1-C826-44A0-A763-3F4F88D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29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1" name="grid-h-1026">
            <a:extLst xmlns:a="http://schemas.openxmlformats.org/drawingml/2006/main">
              <a:ext uri="{FF2B5EF4-FFF2-40B4-BE49-F238E27FC236}">
                <a16:creationId xmlns:a16="http://schemas.microsoft.com/office/drawing/2014/main" id="{7958C543-93D0-4C0B-9C23-31A3F1BC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72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2" name="grid-h-1062">
            <a:extLst xmlns:a="http://schemas.openxmlformats.org/drawingml/2006/main">
              <a:ext uri="{FF2B5EF4-FFF2-40B4-BE49-F238E27FC236}">
                <a16:creationId xmlns:a16="http://schemas.microsoft.com/office/drawing/2014/main" id="{D25E94DA-FEC0-481C-8B8D-ED3DF664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3" name="grid-h-1098">
            <a:extLst xmlns:a="http://schemas.openxmlformats.org/drawingml/2006/main">
              <a:ext uri="{FF2B5EF4-FFF2-40B4-BE49-F238E27FC236}">
                <a16:creationId xmlns:a16="http://schemas.microsoft.com/office/drawing/2014/main" id="{4D0DA12F-55FD-4E53-A85F-2383364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58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4" name="header-white">
            <a:extLst xmlns:a="http://schemas.openxmlformats.org/drawingml/2006/main">
              <a:ext uri="{FF2B5EF4-FFF2-40B4-BE49-F238E27FC236}">
                <a16:creationId xmlns:a16="http://schemas.microsoft.com/office/drawing/2014/main" id="{DEF5731B-09B0-4D0A-91F7-87A2398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6B5D036-7D2B-46A1-BE73-906395C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1525"/>
            <a:ext cx="756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2A5DF310-77D2-4CCD-84A9-00B7831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0025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rand-name">
            <a:extLst xmlns:a="http://schemas.openxmlformats.org/drawingml/2006/main">
              <a:ext uri="{FF2B5EF4-FFF2-40B4-BE49-F238E27FC236}">
                <a16:creationId xmlns:a16="http://schemas.microsoft.com/office/drawing/2014/main" id="{A86A0178-8DC5-4F48-A61E-8118428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BD-MedVis</a:t>
            </a:r>
          </a:p>
        </p:txBody>
      </p:sp>
      <p:sp>
        <p:nvSpPr>
          <p:cNvPr id="58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144C0990-C0D9-4288-A41A-70B95EA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BMVC 2026 WORKSHOP</a:t>
            </a:r>
          </a:p>
        </p:txBody>
      </p:sp>
      <p:sp>
        <p:nvSpPr>
          <p:cNvPr id="59" name="header-kicker">
            <a:extLst xmlns:a="http://schemas.openxmlformats.org/drawingml/2006/main">
              <a:ext uri="{FF2B5EF4-FFF2-40B4-BE49-F238E27FC236}">
                <a16:creationId xmlns:a16="http://schemas.microsoft.com/office/drawing/2014/main" id="{B3499B79-9D62-4035-96DC-9314352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52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3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37TH BRITISH MACHINE VISION CONFERENCE</a:t>
            </a:r>
          </a:p>
        </p:txBody>
      </p:sp>
      <p:pic>
        <p:nvPicPr>
          <p:cNvPr id="253" name="bmvc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3d8bf468341df"/>
          <a:stretch xmlns:a="http://schemas.openxmlformats.org/drawingml/2006/main"/>
        </p:blipFill>
        <p:spPr>
          <a:xfrm xmlns:a="http://schemas.openxmlformats.org/drawingml/2006/main">
            <a:off x="5848350" y="174323"/>
            <a:ext cx="1343025" cy="413353"/>
          </a:xfrm>
          <a:prstGeom xmlns:a="http://schemas.openxmlformats.org/drawingml/2006/main" prst="rect">
            <a:avLst/>
          </a:prstGeom>
        </p:spPr>
      </p:pic>
      <p:sp>
        <p:nvSpPr>
          <p:cNvPr id="61" name="hero-kicker">
            <a:extLst xmlns:a="http://schemas.openxmlformats.org/drawingml/2006/main">
              <a:ext uri="{FF2B5EF4-FFF2-40B4-BE49-F238E27FC236}">
                <a16:creationId xmlns:a16="http://schemas.microsoft.com/office/drawing/2014/main" id="{692E49D0-3D0E-4C89-97E2-293339C8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09650"/>
            <a:ext cx="2095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6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BMVC 2026 WORKSHOP</a:t>
            </a:r>
          </a:p>
        </p:txBody>
      </p:sp>
      <p:sp>
        <p:nvSpPr>
          <p:cNvPr id="62" name="hero-title">
            <a:extLst xmlns:a="http://schemas.openxmlformats.org/drawingml/2006/main">
              <a:ext uri="{FF2B5EF4-FFF2-40B4-BE49-F238E27FC236}">
                <a16:creationId xmlns:a16="http://schemas.microsoft.com/office/drawing/2014/main" id="{09B79937-7196-427B-AEE8-6EE1A6B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811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Biomarker-Driven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Medical Vision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</p:txBody>
      </p:sp>
      <p:sp>
        <p:nvSpPr>
          <p:cNvPr id="63" name="hero-copy">
            <a:extLst xmlns:a="http://schemas.openxmlformats.org/drawingml/2006/main">
              <a:ext uri="{FF2B5EF4-FFF2-40B4-BE49-F238E27FC236}">
                <a16:creationId xmlns:a16="http://schemas.microsoft.com/office/drawing/2014/main" id="{9F0BADC8-FAAA-4A07-BF9E-25C08BB2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3695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"/>
              </a:spcAft>
              <a:buNone/>
              <a:defRPr sz="69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From pixels to clinically credible biomarkers.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9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90">
                <a:solidFill>
                  <a:srgbClr val="607176"/>
                </a:solidFill>
                <a:latin typeface="Aptos"/>
                <a:ea typeface="Aptos"/>
                <a:cs typeface="Aptos"/>
              </a:rPr>
              <a:t>BD-MedVis brings together computer vision, medical imaging and clinical AI to create image-derived biomarkers that are biologically grounded, reproducible and clinically meaningful. Join researchers across radiology, pathology and multimodal medicine to advance trustworthy methods for precision care.</a:t>
            </a:r>
          </a:p>
        </p:txBody>
      </p:sp>
      <p:pic>
        <p:nvPicPr>
          <p:cNvPr id="257" name="hero-artwork-origi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c4a02b2b14fd3"/>
          <a:stretch xmlns:a="http://schemas.openxmlformats.org/drawingml/2006/main"/>
        </p:blipFill>
        <p:spPr>
          <a:xfrm xmlns:a="http://schemas.openxmlformats.org/drawingml/2006/main">
            <a:off x="4400550" y="1019175"/>
            <a:ext cx="2800350" cy="1866900"/>
          </a:xfrm>
          <a:prstGeom xmlns:a="http://schemas.openxmlformats.org/drawingml/2006/main" prst="rect">
            <a:avLst/>
          </a:prstGeom>
        </p:spPr>
      </p:pic>
      <p:sp>
        <p:nvSpPr>
          <p:cNvPr id="65" name="hero-triad">
            <a:extLst xmlns:a="http://schemas.openxmlformats.org/drawingml/2006/main">
              <a:ext uri="{FF2B5EF4-FFF2-40B4-BE49-F238E27FC236}">
                <a16:creationId xmlns:a16="http://schemas.microsoft.com/office/drawing/2014/main" id="{59C1EB90-11AA-447B-8EC2-86CFFBB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71800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DISCOVER  ·  VALIDATE  ·  TRANSLATE</a:t>
            </a:r>
          </a:p>
        </p:txBody>
      </p:sp>
      <p:sp>
        <p:nvSpPr>
          <p:cNvPr id="66" name="event-strip">
            <a:extLst xmlns:a="http://schemas.openxmlformats.org/drawingml/2006/main">
              <a:ext uri="{FF2B5EF4-FFF2-40B4-BE49-F238E27FC236}">
                <a16:creationId xmlns:a16="http://schemas.microsoft.com/office/drawing/2014/main" id="{74B1CE89-4F14-43B9-8EB3-8D51F8EA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76600"/>
            <a:ext cx="756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vent-red">
            <a:extLst xmlns:a="http://schemas.openxmlformats.org/drawingml/2006/main">
              <a:ext uri="{FF2B5EF4-FFF2-40B4-BE49-F238E27FC236}">
                <a16:creationId xmlns:a16="http://schemas.microsoft.com/office/drawing/2014/main" id="{69ED663D-088D-463D-942E-73FDD5DC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76600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event-label-0">
            <a:extLst xmlns:a="http://schemas.openxmlformats.org/drawingml/2006/main">
              <a:ext uri="{FF2B5EF4-FFF2-40B4-BE49-F238E27FC236}">
                <a16:creationId xmlns:a16="http://schemas.microsoft.com/office/drawing/2014/main" id="{D3853F2B-3A73-4D06-9619-72F7EB4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09950"/>
            <a:ext cx="2095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WORKSHOP DATE</a:t>
            </a:r>
          </a:p>
        </p:txBody>
      </p:sp>
      <p:sp>
        <p:nvSpPr>
          <p:cNvPr id="69" name="event-value-0">
            <a:extLst xmlns:a="http://schemas.openxmlformats.org/drawingml/2006/main">
              <a:ext uri="{FF2B5EF4-FFF2-40B4-BE49-F238E27FC236}">
                <a16:creationId xmlns:a16="http://schemas.microsoft.com/office/drawing/2014/main" id="{CE305EBE-7754-4FE9-982F-97C21CB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90925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November 2026</a:t>
            </a:r>
          </a:p>
        </p:txBody>
      </p:sp>
      <p:sp>
        <p:nvSpPr>
          <p:cNvPr id="70" name="event-divider-0">
            <a:extLst xmlns:a="http://schemas.openxmlformats.org/drawingml/2006/main">
              <a:ext uri="{FF2B5EF4-FFF2-40B4-BE49-F238E27FC236}">
                <a16:creationId xmlns:a16="http://schemas.microsoft.com/office/drawing/2014/main" id="{BC263E50-B0D5-4EF4-B629-74E15945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04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389"/>
            </a:solidFill>
            <a:prstDash val="solid"/>
          </a:ln>
        </p:spPr>
      </p:sp>
      <p:sp>
        <p:nvSpPr>
          <p:cNvPr id="71" name="event-label-1">
            <a:extLst xmlns:a="http://schemas.openxmlformats.org/drawingml/2006/main">
              <a:ext uri="{FF2B5EF4-FFF2-40B4-BE49-F238E27FC236}">
                <a16:creationId xmlns:a16="http://schemas.microsoft.com/office/drawing/2014/main" id="{995BA010-1DE1-49F3-A140-EB46B8E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409950"/>
            <a:ext cx="2095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VENUE</a:t>
            </a:r>
          </a:p>
        </p:txBody>
      </p:sp>
      <p:sp>
        <p:nvSpPr>
          <p:cNvPr id="72" name="event-value-1">
            <a:extLst xmlns:a="http://schemas.openxmlformats.org/drawingml/2006/main">
              <a:ext uri="{FF2B5EF4-FFF2-40B4-BE49-F238E27FC236}">
                <a16:creationId xmlns:a16="http://schemas.microsoft.com/office/drawing/2014/main" id="{C4FC919E-2B31-4981-BBDD-3AB71E4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90925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Lancaster Town Hall · UK</a:t>
            </a:r>
          </a:p>
        </p:txBody>
      </p:sp>
      <p:sp>
        <p:nvSpPr>
          <p:cNvPr id="73" name="event-divider-1">
            <a:extLst xmlns:a="http://schemas.openxmlformats.org/drawingml/2006/main">
              <a:ext uri="{FF2B5EF4-FFF2-40B4-BE49-F238E27FC236}">
                <a16:creationId xmlns:a16="http://schemas.microsoft.com/office/drawing/2014/main" id="{3FDD98B2-C757-444B-9E63-C2CBEEA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04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389"/>
            </a:solidFill>
            <a:prstDash val="solid"/>
          </a:ln>
        </p:spPr>
      </p:sp>
      <p:sp>
        <p:nvSpPr>
          <p:cNvPr id="74" name="event-label-2">
            <a:extLst xmlns:a="http://schemas.openxmlformats.org/drawingml/2006/main">
              <a:ext uri="{FF2B5EF4-FFF2-40B4-BE49-F238E27FC236}">
                <a16:creationId xmlns:a16="http://schemas.microsoft.com/office/drawing/2014/main" id="{58B8D1FC-AB84-4AA0-AEE2-25075FC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09950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75" name="event-value-2">
            <a:extLst xmlns:a="http://schemas.openxmlformats.org/drawingml/2006/main">
              <a:ext uri="{FF2B5EF4-FFF2-40B4-BE49-F238E27FC236}">
                <a16:creationId xmlns:a16="http://schemas.microsoft.com/office/drawing/2014/main" id="{988E4384-F0BA-4722-B38F-776C38D1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9092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bmvc-bdmedvis.github.io</a:t>
            </a:r>
          </a:p>
        </p:txBody>
      </p:sp>
      <p:sp>
        <p:nvSpPr>
          <p:cNvPr id="76" name="why-surface">
            <a:extLst xmlns:a="http://schemas.openxmlformats.org/drawingml/2006/main">
              <a:ext uri="{FF2B5EF4-FFF2-40B4-BE49-F238E27FC236}">
                <a16:creationId xmlns:a16="http://schemas.microsoft.com/office/drawing/2014/main" id="{02B9A995-5244-4EC1-91CA-EC2569E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86225"/>
            <a:ext cx="7048500" cy="10001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77" name="why-kicker">
            <a:extLst xmlns:a="http://schemas.openxmlformats.org/drawingml/2006/main">
              <a:ext uri="{FF2B5EF4-FFF2-40B4-BE49-F238E27FC236}">
                <a16:creationId xmlns:a16="http://schemas.microsoft.com/office/drawing/2014/main" id="{579C5C06-4731-4243-B8AC-E572FDA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95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WHY THIS WORKSHOP</a:t>
            </a:r>
          </a:p>
        </p:txBody>
      </p:sp>
      <p:sp>
        <p:nvSpPr>
          <p:cNvPr id="78" name="why-copy">
            <a:extLst xmlns:a="http://schemas.openxmlformats.org/drawingml/2006/main">
              <a:ext uri="{FF2B5EF4-FFF2-40B4-BE49-F238E27FC236}">
                <a16:creationId xmlns:a16="http://schemas.microsoft.com/office/drawing/2014/main" id="{755CFB83-D4A9-4CA9-B6D0-026F9A3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680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18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818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Medical vision is moving beyond prediction toward evidence linked to biology, clinical endpoints and patient outcomes. BD-MedVis brings together vision, pathology, radiology and multimodal AI to discover, validate and translate trustworthy imaging biomarkers.</a:t>
            </a:r>
          </a:p>
        </p:txBody>
      </p:sp>
      <p:sp>
        <p:nvSpPr>
          <p:cNvPr id="79" name="pillar-biology-bg">
            <a:extLst xmlns:a="http://schemas.openxmlformats.org/drawingml/2006/main">
              <a:ext uri="{FF2B5EF4-FFF2-40B4-BE49-F238E27FC236}">
                <a16:creationId xmlns:a16="http://schemas.microsoft.com/office/drawing/2014/main" id="{B0C0D07B-ABCC-4406-8536-F83A040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1600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illar-biology">
            <a:extLst xmlns:a="http://schemas.openxmlformats.org/drawingml/2006/main">
              <a:ext uri="{FF2B5EF4-FFF2-40B4-BE49-F238E27FC236}">
                <a16:creationId xmlns:a16="http://schemas.microsoft.com/office/drawing/2014/main" id="{9489D91B-B408-4DCC-8661-1FDD5778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4822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BIOLOGICAL GROUNDING</a:t>
            </a:r>
          </a:p>
        </p:txBody>
      </p:sp>
      <p:sp>
        <p:nvSpPr>
          <p:cNvPr id="81" name="pillar-clinical-bg">
            <a:extLst xmlns:a="http://schemas.openxmlformats.org/drawingml/2006/main">
              <a:ext uri="{FF2B5EF4-FFF2-40B4-BE49-F238E27FC236}">
                <a16:creationId xmlns:a16="http://schemas.microsoft.com/office/drawing/2014/main" id="{B8ACB018-8AB4-4D23-9223-0053952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15811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illar-clinical">
            <a:extLst xmlns:a="http://schemas.openxmlformats.org/drawingml/2006/main">
              <a:ext uri="{FF2B5EF4-FFF2-40B4-BE49-F238E27FC236}">
                <a16:creationId xmlns:a16="http://schemas.microsoft.com/office/drawing/2014/main" id="{7EA43F0B-7DE9-4E91-A3F5-C50256D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48225"/>
            <a:ext cx="1485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CLINICAL CREDIBILITY</a:t>
            </a:r>
          </a:p>
        </p:txBody>
      </p:sp>
      <p:sp>
        <p:nvSpPr>
          <p:cNvPr id="83" name="pillar-reliable-bg">
            <a:extLst xmlns:a="http://schemas.openxmlformats.org/drawingml/2006/main">
              <a:ext uri="{FF2B5EF4-FFF2-40B4-BE49-F238E27FC236}">
                <a16:creationId xmlns:a16="http://schemas.microsoft.com/office/drawing/2014/main" id="{B190452A-9D8F-4B85-85EE-3E681DC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0125"/>
            <a:ext cx="1714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illar-reliable">
            <a:extLst xmlns:a="http://schemas.openxmlformats.org/drawingml/2006/main">
              <a:ext uri="{FF2B5EF4-FFF2-40B4-BE49-F238E27FC236}">
                <a16:creationId xmlns:a16="http://schemas.microsoft.com/office/drawing/2014/main" id="{647F8D0A-BA68-4D7E-BB30-8E5D6675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RELIABLE &amp; INTERPRETABLE</a:t>
            </a:r>
          </a:p>
        </p:txBody>
      </p:sp>
      <p:sp>
        <p:nvSpPr>
          <p:cNvPr id="85" name="pillar-translation-bg">
            <a:extLst xmlns:a="http://schemas.openxmlformats.org/drawingml/2006/main">
              <a:ext uri="{FF2B5EF4-FFF2-40B4-BE49-F238E27FC236}">
                <a16:creationId xmlns:a16="http://schemas.microsoft.com/office/drawing/2014/main" id="{526CAB2A-A90F-4DFA-95AE-AD4F090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15525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llar-translation">
            <a:extLst xmlns:a="http://schemas.openxmlformats.org/drawingml/2006/main">
              <a:ext uri="{FF2B5EF4-FFF2-40B4-BE49-F238E27FC236}">
                <a16:creationId xmlns:a16="http://schemas.microsoft.com/office/drawing/2014/main" id="{29169CD1-C14D-4E95-BF9E-276CA32D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48225"/>
            <a:ext cx="14573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RESPONSIBLE TRANSLATION</a:t>
            </a:r>
          </a:p>
        </p:txBody>
      </p:sp>
      <p:sp>
        <p:nvSpPr>
          <p:cNvPr id="87" name="cfp-surface">
            <a:extLst xmlns:a="http://schemas.openxmlformats.org/drawingml/2006/main">
              <a:ext uri="{FF2B5EF4-FFF2-40B4-BE49-F238E27FC236}">
                <a16:creationId xmlns:a16="http://schemas.microsoft.com/office/drawing/2014/main" id="{A029A030-18F2-4B83-9FD6-55FBA5D4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229225"/>
            <a:ext cx="4238625" cy="23431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88" name="speakers-surface">
            <a:extLst xmlns:a="http://schemas.openxmlformats.org/drawingml/2006/main">
              <a:ext uri="{FF2B5EF4-FFF2-40B4-BE49-F238E27FC236}">
                <a16:creationId xmlns:a16="http://schemas.microsoft.com/office/drawing/2014/main" id="{47915EEE-0104-4520-BB45-0BFAAB4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29225"/>
            <a:ext cx="2686050" cy="23431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BF7F2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89" name="cfp-kicker">
            <a:extLst xmlns:a="http://schemas.openxmlformats.org/drawingml/2006/main">
              <a:ext uri="{FF2B5EF4-FFF2-40B4-BE49-F238E27FC236}">
                <a16:creationId xmlns:a16="http://schemas.microsoft.com/office/drawing/2014/main" id="{A698FC7C-AAE2-4E8A-962F-DC6229D4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62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CALL FOR PAPERS</a:t>
            </a:r>
          </a:p>
        </p:txBody>
      </p:sp>
      <p:sp>
        <p:nvSpPr>
          <p:cNvPr id="90" name="cfp-heading">
            <a:extLst xmlns:a="http://schemas.openxmlformats.org/drawingml/2006/main">
              <a:ext uri="{FF2B5EF4-FFF2-40B4-BE49-F238E27FC236}">
                <a16:creationId xmlns:a16="http://schemas.microsoft.com/office/drawing/2014/main" id="{05B6B793-F160-45EA-85E0-9FDC2BE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53075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3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133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Share work that makes medical vision matter.</a:t>
            </a:r>
          </a:p>
        </p:txBody>
      </p:sp>
      <p:sp>
        <p:nvSpPr>
          <p:cNvPr id="91" name="cfp-copy">
            <a:extLst xmlns:a="http://schemas.openxmlformats.org/drawingml/2006/main">
              <a:ext uri="{FF2B5EF4-FFF2-40B4-BE49-F238E27FC236}">
                <a16:creationId xmlns:a16="http://schemas.microsoft.com/office/drawing/2014/main" id="{81E16C91-F14A-455D-A269-3D604656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2930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70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We welcome original research, methods, benchmarks and clinical perspectives that connect medical images to robust biomarkers and meaningful evidence.</a:t>
            </a:r>
          </a:p>
        </p:txBody>
      </p:sp>
      <p:sp>
        <p:nvSpPr>
          <p:cNvPr id="92" name="topic-1-dot">
            <a:extLst xmlns:a="http://schemas.openxmlformats.org/drawingml/2006/main">
              <a:ext uri="{FF2B5EF4-FFF2-40B4-BE49-F238E27FC236}">
                <a16:creationId xmlns:a16="http://schemas.microsoft.com/office/drawing/2014/main" id="{4812BE60-5529-4DE9-8D71-79284F0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topic-1">
            <a:extLst xmlns:a="http://schemas.openxmlformats.org/drawingml/2006/main">
              <a:ext uri="{FF2B5EF4-FFF2-40B4-BE49-F238E27FC236}">
                <a16:creationId xmlns:a16="http://schemas.microsoft.com/office/drawing/2014/main" id="{5878944E-771C-46A3-B38C-C45C079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172200"/>
            <a:ext cx="1104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Imaging biomarkers</a:t>
            </a:r>
          </a:p>
        </p:txBody>
      </p:sp>
      <p:sp>
        <p:nvSpPr>
          <p:cNvPr id="94" name="topic-2-dot">
            <a:extLst xmlns:a="http://schemas.openxmlformats.org/drawingml/2006/main">
              <a:ext uri="{FF2B5EF4-FFF2-40B4-BE49-F238E27FC236}">
                <a16:creationId xmlns:a16="http://schemas.microsoft.com/office/drawing/2014/main" id="{812B22D8-BB8D-4014-BD90-29F4C627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opic-2">
            <a:extLst xmlns:a="http://schemas.openxmlformats.org/drawingml/2006/main">
              <a:ext uri="{FF2B5EF4-FFF2-40B4-BE49-F238E27FC236}">
                <a16:creationId xmlns:a16="http://schemas.microsoft.com/office/drawing/2014/main" id="{689C8F5A-B75A-4219-93F5-ED9A106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172200"/>
            <a:ext cx="1228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Computational pathology</a:t>
            </a:r>
          </a:p>
        </p:txBody>
      </p:sp>
      <p:sp>
        <p:nvSpPr>
          <p:cNvPr id="96" name="topic-3-dot">
            <a:extLst xmlns:a="http://schemas.openxmlformats.org/drawingml/2006/main">
              <a:ext uri="{FF2B5EF4-FFF2-40B4-BE49-F238E27FC236}">
                <a16:creationId xmlns:a16="http://schemas.microsoft.com/office/drawing/2014/main" id="{4638B7DF-A18F-4FB7-92E1-9213B82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opic-3">
            <a:extLst xmlns:a="http://schemas.openxmlformats.org/drawingml/2006/main">
              <a:ext uri="{FF2B5EF4-FFF2-40B4-BE49-F238E27FC236}">
                <a16:creationId xmlns:a16="http://schemas.microsoft.com/office/drawing/2014/main" id="{ABCE3CBE-8960-4E21-8A6F-303BBBD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72200"/>
            <a:ext cx="1038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Radiogenomics</a:t>
            </a:r>
          </a:p>
        </p:txBody>
      </p:sp>
      <p:sp>
        <p:nvSpPr>
          <p:cNvPr id="98" name="topic-4-dot">
            <a:extLst xmlns:a="http://schemas.openxmlformats.org/drawingml/2006/main">
              <a:ext uri="{FF2B5EF4-FFF2-40B4-BE49-F238E27FC236}">
                <a16:creationId xmlns:a16="http://schemas.microsoft.com/office/drawing/2014/main" id="{25E8DF07-EAE8-4A30-98AB-BD312E4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opic-4">
            <a:extLst xmlns:a="http://schemas.openxmlformats.org/drawingml/2006/main">
              <a:ext uri="{FF2B5EF4-FFF2-40B4-BE49-F238E27FC236}">
                <a16:creationId xmlns:a16="http://schemas.microsoft.com/office/drawing/2014/main" id="{D80122DF-A2E6-48A2-888A-E05A7A3F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353175"/>
            <a:ext cx="1323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Multimodal biomedical AI</a:t>
            </a:r>
          </a:p>
        </p:txBody>
      </p:sp>
      <p:sp>
        <p:nvSpPr>
          <p:cNvPr id="100" name="topic-5-dot">
            <a:extLst xmlns:a="http://schemas.openxmlformats.org/drawingml/2006/main">
              <a:ext uri="{FF2B5EF4-FFF2-40B4-BE49-F238E27FC236}">
                <a16:creationId xmlns:a16="http://schemas.microsoft.com/office/drawing/2014/main" id="{029B0E8F-CF64-4F73-8D61-0AD886DC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opic-5">
            <a:extLst xmlns:a="http://schemas.openxmlformats.org/drawingml/2006/main">
              <a:ext uri="{FF2B5EF4-FFF2-40B4-BE49-F238E27FC236}">
                <a16:creationId xmlns:a16="http://schemas.microsoft.com/office/drawing/2014/main" id="{FE29B918-7025-4CAD-92D3-F810F17B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53175"/>
            <a:ext cx="1343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Reliability &amp; interpretability</a:t>
            </a:r>
          </a:p>
        </p:txBody>
      </p:sp>
      <p:sp>
        <p:nvSpPr>
          <p:cNvPr id="102" name="topic-6-dot">
            <a:extLst xmlns:a="http://schemas.openxmlformats.org/drawingml/2006/main">
              <a:ext uri="{FF2B5EF4-FFF2-40B4-BE49-F238E27FC236}">
                <a16:creationId xmlns:a16="http://schemas.microsoft.com/office/drawing/2014/main" id="{6880CB1C-68BA-4379-8714-9A0AF10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topic-6">
            <a:extLst xmlns:a="http://schemas.openxmlformats.org/drawingml/2006/main">
              <a:ext uri="{FF2B5EF4-FFF2-40B4-BE49-F238E27FC236}">
                <a16:creationId xmlns:a16="http://schemas.microsoft.com/office/drawing/2014/main" id="{B1C55711-9FC3-4996-A506-F917AA4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353175"/>
            <a:ext cx="809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Clinical translation</a:t>
            </a:r>
          </a:p>
        </p:txBody>
      </p:sp>
      <p:sp>
        <p:nvSpPr>
          <p:cNvPr id="104" name="deadline-open-bg">
            <a:extLst xmlns:a="http://schemas.openxmlformats.org/drawingml/2006/main">
              <a:ext uri="{FF2B5EF4-FFF2-40B4-BE49-F238E27FC236}">
                <a16:creationId xmlns:a16="http://schemas.microsoft.com/office/drawing/2014/main" id="{CC4A1739-AA55-4317-BA6B-F6460E5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9875"/>
            <a:ext cx="11811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05" name="deadline-open-label">
            <a:extLst xmlns:a="http://schemas.openxmlformats.org/drawingml/2006/main">
              <a:ext uri="{FF2B5EF4-FFF2-40B4-BE49-F238E27FC236}">
                <a16:creationId xmlns:a16="http://schemas.microsoft.com/office/drawing/2014/main" id="{CDD4E3A1-5F5C-4339-B22E-83639519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86550"/>
            <a:ext cx="990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SUBMISSIONS OPEN</a:t>
            </a:r>
          </a:p>
        </p:txBody>
      </p:sp>
      <p:sp>
        <p:nvSpPr>
          <p:cNvPr id="106" name="deadline-open-date">
            <a:extLst xmlns:a="http://schemas.openxmlformats.org/drawingml/2006/main">
              <a:ext uri="{FF2B5EF4-FFF2-40B4-BE49-F238E27FC236}">
                <a16:creationId xmlns:a16="http://schemas.microsoft.com/office/drawing/2014/main" id="{B3C2D6B4-C569-45EF-8DB4-5FEC9CC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294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3 Aug 2026</a:t>
            </a:r>
          </a:p>
        </p:txBody>
      </p:sp>
      <p:sp>
        <p:nvSpPr>
          <p:cNvPr id="107" name="deadline-intent-bg">
            <a:extLst xmlns:a="http://schemas.openxmlformats.org/drawingml/2006/main">
              <a:ext uri="{FF2B5EF4-FFF2-40B4-BE49-F238E27FC236}">
                <a16:creationId xmlns:a16="http://schemas.microsoft.com/office/drawing/2014/main" id="{3AE23618-D86C-4389-B14F-5D5CA02A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619875"/>
            <a:ext cx="12192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08" name="deadline-intent-label">
            <a:extLst xmlns:a="http://schemas.openxmlformats.org/drawingml/2006/main">
              <a:ext uri="{FF2B5EF4-FFF2-40B4-BE49-F238E27FC236}">
                <a16:creationId xmlns:a16="http://schemas.microsoft.com/office/drawing/2014/main" id="{69C650C0-21FF-41FD-A889-7731BB1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686550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INTENT TO SUBMIT</a:t>
            </a:r>
          </a:p>
        </p:txBody>
      </p:sp>
      <p:sp>
        <p:nvSpPr>
          <p:cNvPr id="109" name="deadline-intent-date">
            <a:extLst xmlns:a="http://schemas.openxmlformats.org/drawingml/2006/main">
              <a:ext uri="{FF2B5EF4-FFF2-40B4-BE49-F238E27FC236}">
                <a16:creationId xmlns:a16="http://schemas.microsoft.com/office/drawing/2014/main" id="{1187DC67-CEF2-4365-B611-926450CC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829425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28 Aug 2026</a:t>
            </a:r>
          </a:p>
        </p:txBody>
      </p:sp>
      <p:sp>
        <p:nvSpPr>
          <p:cNvPr id="110" name="deadline-full-bg">
            <a:extLst xmlns:a="http://schemas.openxmlformats.org/drawingml/2006/main">
              <a:ext uri="{FF2B5EF4-FFF2-40B4-BE49-F238E27FC236}">
                <a16:creationId xmlns:a16="http://schemas.microsoft.com/office/drawing/2014/main" id="{53760710-055E-4974-BBAA-3030D4F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619875"/>
            <a:ext cx="13049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1" name="deadline-full-label">
            <a:extLst xmlns:a="http://schemas.openxmlformats.org/drawingml/2006/main">
              <a:ext uri="{FF2B5EF4-FFF2-40B4-BE49-F238E27FC236}">
                <a16:creationId xmlns:a16="http://schemas.microsoft.com/office/drawing/2014/main" id="{D1094022-638B-4667-94AB-4FB7F3D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686550"/>
            <a:ext cx="1114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FULL PAPER</a:t>
            </a:r>
          </a:p>
        </p:txBody>
      </p:sp>
      <p:sp>
        <p:nvSpPr>
          <p:cNvPr id="112" name="deadline-full-date">
            <a:extLst xmlns:a="http://schemas.openxmlformats.org/drawingml/2006/main">
              <a:ext uri="{FF2B5EF4-FFF2-40B4-BE49-F238E27FC236}">
                <a16:creationId xmlns:a16="http://schemas.microsoft.com/office/drawing/2014/main" id="{34DD34DE-D6B4-473B-86DE-2A253C9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829425"/>
            <a:ext cx="1114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4 Sep 2026</a:t>
            </a:r>
          </a:p>
        </p:txBody>
      </p:sp>
      <p:sp>
        <p:nvSpPr>
          <p:cNvPr id="113" name="deadline-notify-bg">
            <a:extLst xmlns:a="http://schemas.openxmlformats.org/drawingml/2006/main">
              <a:ext uri="{FF2B5EF4-FFF2-40B4-BE49-F238E27FC236}">
                <a16:creationId xmlns:a16="http://schemas.microsoft.com/office/drawing/2014/main" id="{EB7B8AA7-FC4A-4CAC-B64F-247289B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05650"/>
            <a:ext cx="11811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4" name="deadline-notify-label">
            <a:extLst xmlns:a="http://schemas.openxmlformats.org/drawingml/2006/main">
              <a:ext uri="{FF2B5EF4-FFF2-40B4-BE49-F238E27FC236}">
                <a16:creationId xmlns:a16="http://schemas.microsoft.com/office/drawing/2014/main" id="{82C1B604-3734-4885-A869-D9BD8593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72325"/>
            <a:ext cx="990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115" name="deadline-notify-date">
            <a:extLst xmlns:a="http://schemas.openxmlformats.org/drawingml/2006/main">
              <a:ext uri="{FF2B5EF4-FFF2-40B4-BE49-F238E27FC236}">
                <a16:creationId xmlns:a16="http://schemas.microsoft.com/office/drawing/2014/main" id="{F2EA9E9A-31F9-42D4-8248-474A9CA2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31520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25 Sep 2026</a:t>
            </a:r>
          </a:p>
        </p:txBody>
      </p:sp>
      <p:sp>
        <p:nvSpPr>
          <p:cNvPr id="116" name="deadline-camera-bg">
            <a:extLst xmlns:a="http://schemas.openxmlformats.org/drawingml/2006/main">
              <a:ext uri="{FF2B5EF4-FFF2-40B4-BE49-F238E27FC236}">
                <a16:creationId xmlns:a16="http://schemas.microsoft.com/office/drawing/2014/main" id="{5B158FF1-B24E-4686-8A22-2A5E808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105650"/>
            <a:ext cx="12192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7" name="deadline-camera-label">
            <a:extLst xmlns:a="http://schemas.openxmlformats.org/drawingml/2006/main">
              <a:ext uri="{FF2B5EF4-FFF2-40B4-BE49-F238E27FC236}">
                <a16:creationId xmlns:a16="http://schemas.microsoft.com/office/drawing/2014/main" id="{B82DE1F3-AEB4-4AC4-BE36-768668D9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172325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CAMERA-READY</a:t>
            </a:r>
          </a:p>
        </p:txBody>
      </p:sp>
      <p:sp>
        <p:nvSpPr>
          <p:cNvPr id="118" name="deadline-camera-date">
            <a:extLst xmlns:a="http://schemas.openxmlformats.org/drawingml/2006/main">
              <a:ext uri="{FF2B5EF4-FFF2-40B4-BE49-F238E27FC236}">
                <a16:creationId xmlns:a16="http://schemas.microsoft.com/office/drawing/2014/main" id="{05D32787-38C3-453F-B0C1-A038C764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315200"/>
            <a:ext cx="1028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16 Oct 2026</a:t>
            </a:r>
          </a:p>
        </p:txBody>
      </p:sp>
      <p:sp>
        <p:nvSpPr>
          <p:cNvPr id="119" name="deadline-aoe-bg">
            <a:extLst xmlns:a="http://schemas.openxmlformats.org/drawingml/2006/main">
              <a:ext uri="{FF2B5EF4-FFF2-40B4-BE49-F238E27FC236}">
                <a16:creationId xmlns:a16="http://schemas.microsoft.com/office/drawing/2014/main" id="{FD8DBC5C-2C69-4F46-BA3E-D3E06B6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105650"/>
            <a:ext cx="1304925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20" name="deadline-aoe-label">
            <a:extLst xmlns:a="http://schemas.openxmlformats.org/drawingml/2006/main">
              <a:ext uri="{FF2B5EF4-FFF2-40B4-BE49-F238E27FC236}">
                <a16:creationId xmlns:a16="http://schemas.microsoft.com/office/drawing/2014/main" id="{45C0482D-4332-4608-B45D-F4EF45A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172325"/>
            <a:ext cx="1114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DEADLINE TIME</a:t>
            </a:r>
          </a:p>
        </p:txBody>
      </p:sp>
      <p:sp>
        <p:nvSpPr>
          <p:cNvPr id="121" name="deadline-aoe-date">
            <a:extLst xmlns:a="http://schemas.openxmlformats.org/drawingml/2006/main">
              <a:ext uri="{FF2B5EF4-FFF2-40B4-BE49-F238E27FC236}">
                <a16:creationId xmlns:a16="http://schemas.microsoft.com/office/drawing/2014/main" id="{B3119026-FCB2-4044-8AC7-6447E5C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315200"/>
            <a:ext cx="1114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23:59 AoE</a:t>
            </a:r>
          </a:p>
        </p:txBody>
      </p:sp>
      <p:sp>
        <p:nvSpPr>
          <p:cNvPr id="122" name="speakers-kicker">
            <a:extLst xmlns:a="http://schemas.openxmlformats.org/drawingml/2006/main">
              <a:ext uri="{FF2B5EF4-FFF2-40B4-BE49-F238E27FC236}">
                <a16:creationId xmlns:a16="http://schemas.microsoft.com/office/drawing/2014/main" id="{FFF46F7D-9EC8-4E82-A7AA-6E0BAD8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625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INVITED SPEAKERS</a:t>
            </a:r>
          </a:p>
        </p:txBody>
      </p:sp>
      <p:pic>
        <p:nvPicPr>
          <p:cNvPr id="316" name="speaker-yalin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42cd5523443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2025" y="5648325"/>
            <a:ext cx="609600" cy="609600"/>
          </a:xfrm>
          <a:prstGeom xmlns:a="http://schemas.openxmlformats.org/drawingml/2006/main" prst="ellipse">
            <a:avLst/>
          </a:prstGeom>
        </p:spPr>
      </p:pic>
      <p:sp>
        <p:nvSpPr>
          <p:cNvPr id="124" name="speaker-yalin-name">
            <a:extLst xmlns:a="http://schemas.openxmlformats.org/drawingml/2006/main">
              <a:ext uri="{FF2B5EF4-FFF2-40B4-BE49-F238E27FC236}">
                <a16:creationId xmlns:a16="http://schemas.microsoft.com/office/drawing/2014/main" id="{3DB761B0-6B74-417F-9642-A4EAB47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578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9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Professor Yalin Zheng</a:t>
            </a:r>
          </a:p>
        </p:txBody>
      </p:sp>
      <p:sp>
        <p:nvSpPr>
          <p:cNvPr id="125" name="speaker-yalin-role">
            <a:extLst xmlns:a="http://schemas.openxmlformats.org/drawingml/2006/main">
              <a:ext uri="{FF2B5EF4-FFF2-40B4-BE49-F238E27FC236}">
                <a16:creationId xmlns:a16="http://schemas.microsoft.com/office/drawing/2014/main" id="{0A37065E-C0D2-4F71-AE4C-BC1E06E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886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Liverpool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AI in healthcare &amp; ophthalmic imaging</a:t>
            </a:r>
          </a:p>
        </p:txBody>
      </p:sp>
      <p:sp>
        <p:nvSpPr>
          <p:cNvPr id="126" name="speaker-divider">
            <a:extLst xmlns:a="http://schemas.openxmlformats.org/drawingml/2006/main">
              <a:ext uri="{FF2B5EF4-FFF2-40B4-BE49-F238E27FC236}">
                <a16:creationId xmlns:a16="http://schemas.microsoft.com/office/drawing/2014/main" id="{6DEC6271-12E9-42E0-BD1E-F6C183A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00800"/>
            <a:ext cx="2371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pic>
        <p:nvPicPr>
          <p:cNvPr id="320" name="speaker-sharib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c8dd7d3274f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2025" y="6553200"/>
            <a:ext cx="609600" cy="609600"/>
          </a:xfrm>
          <a:prstGeom xmlns:a="http://schemas.openxmlformats.org/drawingml/2006/main" prst="ellipse">
            <a:avLst/>
          </a:prstGeom>
        </p:spPr>
      </p:pic>
      <p:sp>
        <p:nvSpPr>
          <p:cNvPr id="128" name="speaker-sharib-name">
            <a:extLst xmlns:a="http://schemas.openxmlformats.org/drawingml/2006/main">
              <a:ext uri="{FF2B5EF4-FFF2-40B4-BE49-F238E27FC236}">
                <a16:creationId xmlns:a16="http://schemas.microsoft.com/office/drawing/2014/main" id="{FA8BFF09-6CBF-4A03-9784-D99F01BB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5722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9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Sharib Ali</a:t>
            </a:r>
          </a:p>
        </p:txBody>
      </p:sp>
      <p:sp>
        <p:nvSpPr>
          <p:cNvPr id="129" name="speaker-sharib-role">
            <a:extLst xmlns:a="http://schemas.openxmlformats.org/drawingml/2006/main">
              <a:ext uri="{FF2B5EF4-FFF2-40B4-BE49-F238E27FC236}">
                <a16:creationId xmlns:a16="http://schemas.microsoft.com/office/drawing/2014/main" id="{528739E5-A956-43EC-BDF4-87B0929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800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Leeds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Medical &amp; surgical image analysis</a:t>
            </a:r>
          </a:p>
        </p:txBody>
      </p:sp>
      <p:sp>
        <p:nvSpPr>
          <p:cNvPr id="130" name="speaker-note">
            <a:extLst xmlns:a="http://schemas.openxmlformats.org/drawingml/2006/main">
              <a:ext uri="{FF2B5EF4-FFF2-40B4-BE49-F238E27FC236}">
                <a16:creationId xmlns:a16="http://schemas.microsoft.com/office/drawing/2014/main" id="{720B26E4-18FD-4775-ACA8-9B009FB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2294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593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Two translational perspectives. One shared question: what makes an image-derived biomarker clinically credible?</a:t>
            </a:r>
          </a:p>
        </p:txBody>
      </p:sp>
      <p:sp>
        <p:nvSpPr>
          <p:cNvPr id="131" name="organizers-surface">
            <a:extLst xmlns:a="http://schemas.openxmlformats.org/drawingml/2006/main">
              <a:ext uri="{FF2B5EF4-FFF2-40B4-BE49-F238E27FC236}">
                <a16:creationId xmlns:a16="http://schemas.microsoft.com/office/drawing/2014/main" id="{4A766439-8401-4F62-9D4A-0B95E02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724775"/>
            <a:ext cx="7048500" cy="1200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32" name="organizers-kicker">
            <a:extLst xmlns:a="http://schemas.openxmlformats.org/drawingml/2006/main">
              <a:ext uri="{FF2B5EF4-FFF2-40B4-BE49-F238E27FC236}">
                <a16:creationId xmlns:a16="http://schemas.microsoft.com/office/drawing/2014/main" id="{5A272A47-B8BC-454E-AE41-209EE8D4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39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ORGANIZING COMMITTEE</a:t>
            </a:r>
          </a:p>
        </p:txBody>
      </p:sp>
      <p:sp>
        <p:nvSpPr>
          <p:cNvPr id="133" name="organizers-tagline">
            <a:extLst xmlns:a="http://schemas.openxmlformats.org/drawingml/2006/main">
              <a:ext uri="{FF2B5EF4-FFF2-40B4-BE49-F238E27FC236}">
                <a16:creationId xmlns:a16="http://schemas.microsoft.com/office/drawing/2014/main" id="{6BA0615D-B8B2-466B-9258-E541001F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839075"/>
            <a:ext cx="5038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1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An interdisciplinary team spanning medical imaging, biomedical AI and clinical translation.</a:t>
            </a:r>
          </a:p>
        </p:txBody>
      </p:sp>
      <p:sp>
        <p:nvSpPr>
          <p:cNvPr id="134" name="organizer-1-name">
            <a:extLst xmlns:a="http://schemas.openxmlformats.org/drawingml/2006/main">
              <a:ext uri="{FF2B5EF4-FFF2-40B4-BE49-F238E27FC236}">
                <a16:creationId xmlns:a16="http://schemas.microsoft.com/office/drawing/2014/main" id="{A84E9F5D-D924-4E15-92F2-FB55EB59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6767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Yang Hu</a:t>
            </a:r>
          </a:p>
        </p:txBody>
      </p:sp>
      <p:sp>
        <p:nvSpPr>
          <p:cNvPr id="135" name="organizer-1-affiliation">
            <a:extLst xmlns:a="http://schemas.openxmlformats.org/drawingml/2006/main">
              <a:ext uri="{FF2B5EF4-FFF2-40B4-BE49-F238E27FC236}">
                <a16:creationId xmlns:a16="http://schemas.microsoft.com/office/drawing/2014/main" id="{116D0BFA-1936-40D3-833E-44B6E8B6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0102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36" name="organizer-2-name">
            <a:extLst xmlns:a="http://schemas.openxmlformats.org/drawingml/2006/main">
              <a:ext uri="{FF2B5EF4-FFF2-40B4-BE49-F238E27FC236}">
                <a16:creationId xmlns:a16="http://schemas.microsoft.com/office/drawing/2014/main" id="{A376A651-486E-4D06-98F6-803A83E0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06767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Tianyang Zhang</a:t>
            </a:r>
          </a:p>
        </p:txBody>
      </p:sp>
      <p:sp>
        <p:nvSpPr>
          <p:cNvPr id="137" name="organizer-2-affiliation">
            <a:extLst xmlns:a="http://schemas.openxmlformats.org/drawingml/2006/main">
              <a:ext uri="{FF2B5EF4-FFF2-40B4-BE49-F238E27FC236}">
                <a16:creationId xmlns:a16="http://schemas.microsoft.com/office/drawing/2014/main" id="{2D7F8E0A-88A0-49AF-82B3-6703CA6B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20102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Oxford / Birmingham</a:t>
            </a:r>
          </a:p>
        </p:txBody>
      </p:sp>
      <p:sp>
        <p:nvSpPr>
          <p:cNvPr id="138" name="organizer-3-name">
            <a:extLst xmlns:a="http://schemas.openxmlformats.org/drawingml/2006/main">
              <a:ext uri="{FF2B5EF4-FFF2-40B4-BE49-F238E27FC236}">
                <a16:creationId xmlns:a16="http://schemas.microsoft.com/office/drawing/2014/main" id="{209FBF18-95FA-4B60-A313-98BCB737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06767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He Zhao</a:t>
            </a:r>
          </a:p>
        </p:txBody>
      </p:sp>
      <p:sp>
        <p:nvSpPr>
          <p:cNvPr id="139" name="organizer-3-affiliation">
            <a:extLst xmlns:a="http://schemas.openxmlformats.org/drawingml/2006/main">
              <a:ext uri="{FF2B5EF4-FFF2-40B4-BE49-F238E27FC236}">
                <a16:creationId xmlns:a16="http://schemas.microsoft.com/office/drawing/2014/main" id="{64F0F891-0BFA-49F1-A2D5-C34EEA6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20102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Liverpool</a:t>
            </a:r>
          </a:p>
        </p:txBody>
      </p:sp>
      <p:sp>
        <p:nvSpPr>
          <p:cNvPr id="140" name="organizer-4-name">
            <a:extLst xmlns:a="http://schemas.openxmlformats.org/drawingml/2006/main">
              <a:ext uri="{FF2B5EF4-FFF2-40B4-BE49-F238E27FC236}">
                <a16:creationId xmlns:a16="http://schemas.microsoft.com/office/drawing/2014/main" id="{7D83BF73-50F2-476F-B6C9-341F1BED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5342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Jian Chen</a:t>
            </a:r>
          </a:p>
        </p:txBody>
      </p:sp>
      <p:sp>
        <p:nvSpPr>
          <p:cNvPr id="141" name="organizer-4-affiliation">
            <a:extLst xmlns:a="http://schemas.openxmlformats.org/drawingml/2006/main">
              <a:ext uri="{FF2B5EF4-FFF2-40B4-BE49-F238E27FC236}">
                <a16:creationId xmlns:a16="http://schemas.microsoft.com/office/drawing/2014/main" id="{23B90383-16C0-46FE-93D7-1BA5614F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48677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Cambridge</a:t>
            </a:r>
          </a:p>
        </p:txBody>
      </p:sp>
      <p:sp>
        <p:nvSpPr>
          <p:cNvPr id="142" name="organizer-5-name">
            <a:extLst xmlns:a="http://schemas.openxmlformats.org/drawingml/2006/main">
              <a:ext uri="{FF2B5EF4-FFF2-40B4-BE49-F238E27FC236}">
                <a16:creationId xmlns:a16="http://schemas.microsoft.com/office/drawing/2014/main" id="{FA1A3160-384E-488D-A152-4B22A68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35342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Dan Dai</a:t>
            </a:r>
          </a:p>
        </p:txBody>
      </p:sp>
      <p:sp>
        <p:nvSpPr>
          <p:cNvPr id="143" name="organizer-5-affiliation">
            <a:extLst xmlns:a="http://schemas.openxmlformats.org/drawingml/2006/main">
              <a:ext uri="{FF2B5EF4-FFF2-40B4-BE49-F238E27FC236}">
                <a16:creationId xmlns:a16="http://schemas.microsoft.com/office/drawing/2014/main" id="{44E2D63A-1D05-4F0B-8554-6C2F03F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48677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Aston University</a:t>
            </a:r>
          </a:p>
        </p:txBody>
      </p:sp>
      <p:sp>
        <p:nvSpPr>
          <p:cNvPr id="144" name="organizer-6-name">
            <a:extLst xmlns:a="http://schemas.openxmlformats.org/drawingml/2006/main">
              <a:ext uri="{FF2B5EF4-FFF2-40B4-BE49-F238E27FC236}">
                <a16:creationId xmlns:a16="http://schemas.microsoft.com/office/drawing/2014/main" id="{AABC9D8C-77E8-4D93-8B90-CD21680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35342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Yakun Ju</a:t>
            </a:r>
          </a:p>
        </p:txBody>
      </p:sp>
      <p:sp>
        <p:nvSpPr>
          <p:cNvPr id="145" name="organizer-6-affiliation">
            <a:extLst xmlns:a="http://schemas.openxmlformats.org/drawingml/2006/main">
              <a:ext uri="{FF2B5EF4-FFF2-40B4-BE49-F238E27FC236}">
                <a16:creationId xmlns:a16="http://schemas.microsoft.com/office/drawing/2014/main" id="{D8F324DE-0081-4E17-97B0-91FBFFDC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48677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46" name="organizer-7-name">
            <a:extLst xmlns:a="http://schemas.openxmlformats.org/drawingml/2006/main">
              <a:ext uri="{FF2B5EF4-FFF2-40B4-BE49-F238E27FC236}">
                <a16:creationId xmlns:a16="http://schemas.microsoft.com/office/drawing/2014/main" id="{2C772485-F89A-48B5-90E2-5A7B40AC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3917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Le Zhang</a:t>
            </a:r>
          </a:p>
        </p:txBody>
      </p:sp>
      <p:sp>
        <p:nvSpPr>
          <p:cNvPr id="147" name="organizer-7-affiliation">
            <a:extLst xmlns:a="http://schemas.openxmlformats.org/drawingml/2006/main">
              <a:ext uri="{FF2B5EF4-FFF2-40B4-BE49-F238E27FC236}">
                <a16:creationId xmlns:a16="http://schemas.microsoft.com/office/drawing/2014/main" id="{25C87589-FD71-4417-9C19-291B0222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7252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Birmingham</a:t>
            </a:r>
          </a:p>
        </p:txBody>
      </p:sp>
      <p:sp>
        <p:nvSpPr>
          <p:cNvPr id="148" name="organizer-8-name">
            <a:extLst xmlns:a="http://schemas.openxmlformats.org/drawingml/2006/main">
              <a:ext uri="{FF2B5EF4-FFF2-40B4-BE49-F238E27FC236}">
                <a16:creationId xmlns:a16="http://schemas.microsoft.com/office/drawing/2014/main" id="{4E46FA0E-E0D7-451A-A2C5-9911D99C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63917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Shangqi Gao</a:t>
            </a:r>
          </a:p>
        </p:txBody>
      </p:sp>
      <p:sp>
        <p:nvSpPr>
          <p:cNvPr id="149" name="organizer-8-affiliation">
            <a:extLst xmlns:a="http://schemas.openxmlformats.org/drawingml/2006/main">
              <a:ext uri="{FF2B5EF4-FFF2-40B4-BE49-F238E27FC236}">
                <a16:creationId xmlns:a16="http://schemas.microsoft.com/office/drawing/2014/main" id="{6804A111-3120-4ECE-A2CE-8099C53F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77252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Cambridge</a:t>
            </a:r>
          </a:p>
        </p:txBody>
      </p:sp>
      <p:sp>
        <p:nvSpPr>
          <p:cNvPr id="150" name="organizer-9-name">
            <a:extLst xmlns:a="http://schemas.openxmlformats.org/drawingml/2006/main">
              <a:ext uri="{FF2B5EF4-FFF2-40B4-BE49-F238E27FC236}">
                <a16:creationId xmlns:a16="http://schemas.microsoft.com/office/drawing/2014/main" id="{791CC963-5E3B-439C-9EA2-325E7E5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639175"/>
            <a:ext cx="1657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Zheheng Jiang</a:t>
            </a:r>
          </a:p>
        </p:txBody>
      </p:sp>
      <p:sp>
        <p:nvSpPr>
          <p:cNvPr id="151" name="organizer-9-affiliation">
            <a:extLst xmlns:a="http://schemas.openxmlformats.org/drawingml/2006/main">
              <a:ext uri="{FF2B5EF4-FFF2-40B4-BE49-F238E27FC236}">
                <a16:creationId xmlns:a16="http://schemas.microsoft.com/office/drawing/2014/main" id="{BAC36816-7429-475F-A2C6-490553C7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772525"/>
            <a:ext cx="1657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52" name="logo-band">
            <a:extLst xmlns:a="http://schemas.openxmlformats.org/drawingml/2006/main">
              <a:ext uri="{FF2B5EF4-FFF2-40B4-BE49-F238E27FC236}">
                <a16:creationId xmlns:a16="http://schemas.microsoft.com/office/drawing/2014/main" id="{F68AF4ED-F110-4E41-B192-A825C2A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0"/>
            <a:ext cx="75600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logo-band-top">
            <a:extLst xmlns:a="http://schemas.openxmlformats.org/drawingml/2006/main">
              <a:ext uri="{FF2B5EF4-FFF2-40B4-BE49-F238E27FC236}">
                <a16:creationId xmlns:a16="http://schemas.microsoft.com/office/drawing/2014/main" id="{1ABF0623-9328-47BC-BA51-FFC7906D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54" name="institutions-heading">
            <a:extLst xmlns:a="http://schemas.openxmlformats.org/drawingml/2006/main">
              <a:ext uri="{FF2B5EF4-FFF2-40B4-BE49-F238E27FC236}">
                <a16:creationId xmlns:a16="http://schemas.microsoft.com/office/drawing/2014/main" id="{191CEE76-500F-41F7-8752-587CE27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2011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ORGANISING INSTITUTIONS</a:t>
            </a:r>
          </a:p>
        </p:txBody>
      </p:sp>
      <p:pic>
        <p:nvPicPr>
          <p:cNvPr id="348" name="institution-logo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da51aacb3440a"/>
          <a:stretch xmlns:a="http://schemas.openxmlformats.org/drawingml/2006/main"/>
        </p:blipFill>
        <p:spPr>
          <a:xfrm xmlns:a="http://schemas.openxmlformats.org/drawingml/2006/main">
            <a:off x="1835496" y="9124950"/>
            <a:ext cx="577158" cy="323850"/>
          </a:xfrm>
          <a:prstGeom xmlns:a="http://schemas.openxmlformats.org/drawingml/2006/main" prst="rect">
            <a:avLst/>
          </a:prstGeom>
        </p:spPr>
      </p:pic>
      <p:pic>
        <p:nvPicPr>
          <p:cNvPr id="349" name="institution-logo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873440ffd4adf"/>
          <a:stretch xmlns:a="http://schemas.openxmlformats.org/drawingml/2006/main"/>
        </p:blipFill>
        <p:spPr>
          <a:xfrm xmlns:a="http://schemas.openxmlformats.org/drawingml/2006/main">
            <a:off x="2847975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0" name="institution-logo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8b2ad9f1242ec"/>
          <a:stretch xmlns:a="http://schemas.openxmlformats.org/drawingml/2006/main"/>
        </p:blipFill>
        <p:spPr>
          <a:xfrm xmlns:a="http://schemas.openxmlformats.org/drawingml/2006/main">
            <a:off x="3514725" y="9126008"/>
            <a:ext cx="762000" cy="321733"/>
          </a:xfrm>
          <a:prstGeom xmlns:a="http://schemas.openxmlformats.org/drawingml/2006/main" prst="rect">
            <a:avLst/>
          </a:prstGeom>
        </p:spPr>
      </p:pic>
      <p:pic>
        <p:nvPicPr>
          <p:cNvPr id="351" name="institution-logo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b24aff98f458b"/>
          <a:stretch xmlns:a="http://schemas.openxmlformats.org/drawingml/2006/main"/>
        </p:blipFill>
        <p:spPr>
          <a:xfrm xmlns:a="http://schemas.openxmlformats.org/drawingml/2006/main">
            <a:off x="4619625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2" name="institution-logo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ac8d60c7f423b"/>
          <a:stretch xmlns:a="http://schemas.openxmlformats.org/drawingml/2006/main"/>
        </p:blipFill>
        <p:spPr>
          <a:xfrm xmlns:a="http://schemas.openxmlformats.org/drawingml/2006/main">
            <a:off x="5505450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3" name="institution-logo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cec7407f4452c"/>
          <a:stretch xmlns:a="http://schemas.openxmlformats.org/drawingml/2006/main"/>
        </p:blipFill>
        <p:spPr>
          <a:xfrm xmlns:a="http://schemas.openxmlformats.org/drawingml/2006/main">
            <a:off x="6370349" y="9124950"/>
            <a:ext cx="365703" cy="323850"/>
          </a:xfrm>
          <a:prstGeom xmlns:a="http://schemas.openxmlformats.org/drawingml/2006/main" prst="rect">
            <a:avLst/>
          </a:prstGeom>
        </p:spPr>
      </p:pic>
      <p:sp>
        <p:nvSpPr>
          <p:cNvPr id="161" name="partners-heading">
            <a:extLst xmlns:a="http://schemas.openxmlformats.org/drawingml/2006/main">
              <a:ext uri="{FF2B5EF4-FFF2-40B4-BE49-F238E27FC236}">
                <a16:creationId xmlns:a16="http://schemas.microsoft.com/office/drawing/2014/main" id="{219C3ACC-7585-4756-B69D-3A644ED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65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PARTNERS &amp; SUPPORTERS</a:t>
            </a:r>
          </a:p>
        </p:txBody>
      </p:sp>
      <p:pic>
        <p:nvPicPr>
          <p:cNvPr id="355" name="partner-welcome-lancas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e853ccc6a40a9"/>
          <a:stretch xmlns:a="http://schemas.openxmlformats.org/drawingml/2006/main"/>
        </p:blipFill>
        <p:spPr>
          <a:xfrm xmlns:a="http://schemas.openxmlformats.org/drawingml/2006/main">
            <a:off x="1977553" y="9544050"/>
            <a:ext cx="616894" cy="457200"/>
          </a:xfrm>
          <a:prstGeom xmlns:a="http://schemas.openxmlformats.org/drawingml/2006/main" prst="rect">
            <a:avLst/>
          </a:prstGeom>
        </p:spPr>
      </p:pic>
      <p:pic>
        <p:nvPicPr>
          <p:cNvPr id="356" name="partner-lancaster-counci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9c6f1abaf4aeb"/>
          <a:stretch xmlns:a="http://schemas.openxmlformats.org/drawingml/2006/main"/>
        </p:blipFill>
        <p:spPr>
          <a:xfrm xmlns:a="http://schemas.openxmlformats.org/drawingml/2006/main">
            <a:off x="2981127" y="9582150"/>
            <a:ext cx="781447" cy="419100"/>
          </a:xfrm>
          <a:prstGeom xmlns:a="http://schemas.openxmlformats.org/drawingml/2006/main" prst="rect">
            <a:avLst/>
          </a:prstGeom>
        </p:spPr>
      </p:pic>
      <p:pic>
        <p:nvPicPr>
          <p:cNvPr id="357" name="partner-lancaster-cre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68dc6d571413a"/>
          <a:stretch xmlns:a="http://schemas.openxmlformats.org/drawingml/2006/main"/>
        </p:blipFill>
        <p:spPr>
          <a:xfrm xmlns:a="http://schemas.openxmlformats.org/drawingml/2006/main">
            <a:off x="4219575" y="9561364"/>
            <a:ext cx="447675" cy="422572"/>
          </a:xfrm>
          <a:prstGeom xmlns:a="http://schemas.openxmlformats.org/drawingml/2006/main" prst="rect">
            <a:avLst/>
          </a:prstGeom>
        </p:spPr>
      </p:pic>
      <p:pic>
        <p:nvPicPr>
          <p:cNvPr id="358" name="partner-icv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d394e52784472"/>
          <a:stretch xmlns:a="http://schemas.openxmlformats.org/drawingml/2006/main"/>
        </p:blipFill>
        <p:spPr>
          <a:xfrm xmlns:a="http://schemas.openxmlformats.org/drawingml/2006/main">
            <a:off x="5124450" y="9639114"/>
            <a:ext cx="990600" cy="248021"/>
          </a:xfrm>
          <a:prstGeom xmlns:a="http://schemas.openxmlformats.org/drawingml/2006/main" prst="rect">
            <a:avLst/>
          </a:prstGeom>
        </p:spPr>
      </p:pic>
      <p:sp>
        <p:nvSpPr>
          <p:cNvPr id="166" name="partner-caption">
            <a:extLst xmlns:a="http://schemas.openxmlformats.org/drawingml/2006/main">
              <a:ext uri="{FF2B5EF4-FFF2-40B4-BE49-F238E27FC236}">
                <a16:creationId xmlns:a16="http://schemas.microsoft.com/office/drawing/2014/main" id="{870964ED-323F-4EA2-8B0A-D8FBF554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6107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4000"/>
              </a:lnSpc>
              <a:buNone/>
              <a:defRPr sz="540" b="1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In association with BMVC 2026 and the Lancaster host community</a:t>
            </a:r>
          </a:p>
        </p:txBody>
      </p:sp>
      <p:sp>
        <p:nvSpPr>
          <p:cNvPr id="167" name="footer">
            <a:extLst xmlns:a="http://schemas.openxmlformats.org/drawingml/2006/main">
              <a:ext uri="{FF2B5EF4-FFF2-40B4-BE49-F238E27FC236}">
                <a16:creationId xmlns:a16="http://schemas.microsoft.com/office/drawing/2014/main" id="{39EBEFCD-34FF-4D7D-9066-F450A68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25075"/>
            <a:ext cx="7560000" cy="5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footer-event">
            <a:extLst xmlns:a="http://schemas.openxmlformats.org/drawingml/2006/main">
              <a:ext uri="{FF2B5EF4-FFF2-40B4-BE49-F238E27FC236}">
                <a16:creationId xmlns:a16="http://schemas.microsoft.com/office/drawing/2014/main" id="{7E5D6A9E-F94A-4A53-8CF9-9243D339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267950"/>
            <a:ext cx="447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NOVEMBER 2026  ·  LANCASTER TOWN HALL  ·  LANCASTER, UK</a:t>
            </a:r>
          </a:p>
        </p:txBody>
      </p:sp>
      <p:sp>
        <p:nvSpPr>
          <p:cNvPr id="169" name="footer-contact">
            <a:extLst xmlns:a="http://schemas.openxmlformats.org/drawingml/2006/main">
              <a:ext uri="{FF2B5EF4-FFF2-40B4-BE49-F238E27FC236}">
                <a16:creationId xmlns:a16="http://schemas.microsoft.com/office/drawing/2014/main" id="{0D317E57-A42E-47FE-927C-20B0A347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0229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645" b="1">
                <a:solidFill>
                  <a:srgbClr val="C8E0D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C8E0DD"/>
                </a:solidFill>
                <a:latin typeface="Aptos"/>
                <a:ea typeface="Aptos"/>
                <a:cs typeface="Aptos"/>
              </a:rPr>
              <a:t>bmvc-bdmedvis.github.io</a:t>
            </a:r>
          </a:p>
          <a:p xmlns:a="http://schemas.openxmlformats.org/drawingml/2006/main">
            <a:pPr algn="r">
              <a:lnSpc>
                <a:spcPct val="98000"/>
              </a:lnSpc>
              <a:buNone/>
              <a:defRPr sz="645" b="1">
                <a:solidFill>
                  <a:srgbClr val="C8E0D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C8E0DD"/>
                </a:solidFill>
                <a:latin typeface="Aptos"/>
                <a:ea typeface="Aptos"/>
                <a:cs typeface="Aptos"/>
              </a:rPr>
              <a:t>hy208@leicester.ac.uk</a:t>
            </a:r>
          </a:p>
        </p:txBody>
      </p:sp>
      <p:pic>
        <p:nvPicPr>
          <p:cNvPr id="363" name="organizer-1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d04dfa2674d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805815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64" name="organizer-2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588ffa8af4c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7950" y="805815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65" name="organizer-3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d94c03d064278"/>
          <a:srcRect xmlns:a="http://schemas.openxmlformats.org/drawingml/2006/main" l="0" t="15625" r="0" b="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805815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66" name="organizer-4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67603d91349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834390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67" name="organizer-5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fa6e4554747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7950" y="834390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68" name="organizer-6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2e352c5634f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834390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69" name="organizer-7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224e2a6ff4f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862965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70" name="organizer-8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6420d7b7940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7950" y="8629650"/>
            <a:ext cx="266700" cy="266700"/>
          </a:xfrm>
          <a:prstGeom xmlns:a="http://schemas.openxmlformats.org/drawingml/2006/main" prst="ellipse">
            <a:avLst/>
          </a:prstGeom>
        </p:spPr>
      </p:pic>
      <p:pic>
        <p:nvPicPr>
          <p:cNvPr id="371" name="organizer-9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28a8b61654a99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8629650"/>
            <a:ext cx="266700" cy="266700"/>
          </a:xfrm>
          <a:prstGeom xmlns:a="http://schemas.openxmlformats.org/drawingml/2006/main"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06783691"/>
      </p:ext>
    </p:extLst>
  </p:cSld>
</p:sld>
</file>

<file path=ppt/theme/theme1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2026-08-01T12:39:45.4020000Z</dcterms:created>
  <dcterms:modified xsi:type="dcterms:W3CDTF">2026-08-01T12:39:45.4020000Z</dcterms:modified>
</coreProperties>
</file>